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3599973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180" y="-4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lson H. Koshoji" userId="1bb596be03584b7e" providerId="LiveId" clId="{8DF9B863-E197-4E49-BB4E-982C067B3D0C}"/>
    <pc:docChg chg="modSld">
      <pc:chgData name="Nelson H. Koshoji" userId="1bb596be03584b7e" providerId="LiveId" clId="{8DF9B863-E197-4E49-BB4E-982C067B3D0C}" dt="2026-05-30T22:15:21.991" v="51" actId="1037"/>
      <pc:docMkLst>
        <pc:docMk/>
      </pc:docMkLst>
      <pc:sldChg chg="modSp mod">
        <pc:chgData name="Nelson H. Koshoji" userId="1bb596be03584b7e" providerId="LiveId" clId="{8DF9B863-E197-4E49-BB4E-982C067B3D0C}" dt="2026-05-30T22:15:21.991" v="51" actId="1037"/>
        <pc:sldMkLst>
          <pc:docMk/>
          <pc:sldMk cId="0" sldId="256"/>
        </pc:sldMkLst>
        <pc:spChg chg="mod">
          <ac:chgData name="Nelson H. Koshoji" userId="1bb596be03584b7e" providerId="LiveId" clId="{8DF9B863-E197-4E49-BB4E-982C067B3D0C}" dt="2026-05-30T22:14:56.214" v="43" actId="1038"/>
          <ac:spMkLst>
            <pc:docMk/>
            <pc:sldMk cId="0" sldId="256"/>
            <ac:spMk id="65" creationId="{00000000-0000-0000-0000-000000000000}"/>
          </ac:spMkLst>
        </pc:spChg>
        <pc:spChg chg="mod">
          <ac:chgData name="Nelson H. Koshoji" userId="1bb596be03584b7e" providerId="LiveId" clId="{8DF9B863-E197-4E49-BB4E-982C067B3D0C}" dt="2026-05-30T22:13:13.491" v="31" actId="1035"/>
          <ac:spMkLst>
            <pc:docMk/>
            <pc:sldMk cId="0" sldId="256"/>
            <ac:spMk id="80" creationId="{00000000-0000-0000-0000-000000000000}"/>
          </ac:spMkLst>
        </pc:spChg>
        <pc:spChg chg="mod">
          <ac:chgData name="Nelson H. Koshoji" userId="1bb596be03584b7e" providerId="LiveId" clId="{8DF9B863-E197-4E49-BB4E-982C067B3D0C}" dt="2026-05-30T22:12:49.814" v="28" actId="14100"/>
          <ac:spMkLst>
            <pc:docMk/>
            <pc:sldMk cId="0" sldId="256"/>
            <ac:spMk id="82" creationId="{00000000-0000-0000-0000-000000000000}"/>
          </ac:spMkLst>
        </pc:spChg>
        <pc:spChg chg="mod">
          <ac:chgData name="Nelson H. Koshoji" userId="1bb596be03584b7e" providerId="LiveId" clId="{8DF9B863-E197-4E49-BB4E-982C067B3D0C}" dt="2026-05-30T22:12:18.871" v="27" actId="103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Nelson H. Koshoji" userId="1bb596be03584b7e" providerId="LiveId" clId="{8DF9B863-E197-4E49-BB4E-982C067B3D0C}" dt="2026-05-30T22:12:00.542" v="17" actId="1036"/>
          <ac:spMkLst>
            <pc:docMk/>
            <pc:sldMk cId="0" sldId="256"/>
            <ac:spMk id="93" creationId="{00000000-0000-0000-0000-000000000000}"/>
          </ac:spMkLst>
        </pc:spChg>
        <pc:spChg chg="mod">
          <ac:chgData name="Nelson H. Koshoji" userId="1bb596be03584b7e" providerId="LiveId" clId="{8DF9B863-E197-4E49-BB4E-982C067B3D0C}" dt="2026-05-30T22:12:15.154" v="26" actId="6549"/>
          <ac:spMkLst>
            <pc:docMk/>
            <pc:sldMk cId="0" sldId="256"/>
            <ac:spMk id="94" creationId="{00000000-0000-0000-0000-000000000000}"/>
          </ac:spMkLst>
        </pc:spChg>
        <pc:spChg chg="mod">
          <ac:chgData name="Nelson H. Koshoji" userId="1bb596be03584b7e" providerId="LiveId" clId="{8DF9B863-E197-4E49-BB4E-982C067B3D0C}" dt="2026-05-30T22:14:01.788" v="38" actId="1036"/>
          <ac:spMkLst>
            <pc:docMk/>
            <pc:sldMk cId="0" sldId="256"/>
            <ac:spMk id="95" creationId="{00000000-0000-0000-0000-000000000000}"/>
          </ac:spMkLst>
        </pc:spChg>
        <pc:picChg chg="mod">
          <ac:chgData name="Nelson H. Koshoji" userId="1bb596be03584b7e" providerId="LiveId" clId="{8DF9B863-E197-4E49-BB4E-982C067B3D0C}" dt="2026-05-30T22:13:40.785" v="33" actId="1035"/>
          <ac:picMkLst>
            <pc:docMk/>
            <pc:sldMk cId="0" sldId="256"/>
            <ac:picMk id="84" creationId="{00000000-0000-0000-0000-000000000000}"/>
          </ac:picMkLst>
        </pc:picChg>
        <pc:picChg chg="mod">
          <ac:chgData name="Nelson H. Koshoji" userId="1bb596be03584b7e" providerId="LiveId" clId="{8DF9B863-E197-4E49-BB4E-982C067B3D0C}" dt="2026-05-30T22:15:05.299" v="45" actId="1035"/>
          <ac:picMkLst>
            <pc:docMk/>
            <pc:sldMk cId="0" sldId="256"/>
            <ac:picMk id="86" creationId="{00000000-0000-0000-0000-000000000000}"/>
          </ac:picMkLst>
        </pc:picChg>
        <pc:picChg chg="mod">
          <ac:chgData name="Nelson H. Koshoji" userId="1bb596be03584b7e" providerId="LiveId" clId="{8DF9B863-E197-4E49-BB4E-982C067B3D0C}" dt="2026-05-30T22:15:21.991" v="51" actId="1037"/>
          <ac:picMkLst>
            <pc:docMk/>
            <pc:sldMk cId="0" sldId="256"/>
            <ac:picMk id="9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1436BD-B2E7-446F-BE65-EE86867CEC0F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D58AD6-3BBC-4DF0-AC0D-938C2B022E65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430000" y="5891760"/>
            <a:ext cx="27538560" cy="1253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2125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2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EF2DFF-DEF7-4E1F-B678-49781659A4CC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31640" y="2400120"/>
            <a:ext cx="10449000" cy="83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135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3773960" y="5183280"/>
            <a:ext cx="16401600" cy="2558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1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1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2231640" y="10800000"/>
            <a:ext cx="10449000" cy="2000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3240000">
              <a:lnSpc>
                <a:spcPct val="90000"/>
              </a:lnSpc>
              <a:spcBef>
                <a:spcPts val="3543"/>
              </a:spcBef>
              <a:buNone/>
              <a:tabLst>
                <a:tab pos="0" algn="l"/>
              </a:tabLst>
            </a:pPr>
            <a:r>
              <a:rPr lang="pt-BR" sz="56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5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4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5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6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498BE3-4836-4791-9A92-02198F40896B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231640" y="2400120"/>
            <a:ext cx="10449000" cy="83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135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3773960" y="5183280"/>
            <a:ext cx="16401600" cy="2558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13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no ícone para adicionar uma imagem</a:t>
            </a:r>
            <a:endParaRPr lang="pt-BR" sz="1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2231640" y="10800000"/>
            <a:ext cx="10449000" cy="2000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3240000">
              <a:lnSpc>
                <a:spcPct val="90000"/>
              </a:lnSpc>
              <a:spcBef>
                <a:spcPts val="3543"/>
              </a:spcBef>
              <a:buNone/>
              <a:tabLst>
                <a:tab pos="0" algn="l"/>
              </a:tabLst>
            </a:pPr>
            <a:r>
              <a:rPr lang="pt-BR" sz="565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5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6846C62-F313-454D-8B05-1F1093AB5886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27320" y="1916640"/>
            <a:ext cx="27943560" cy="69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5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5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227320" y="9583200"/>
            <a:ext cx="27943560" cy="228409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EEEA750-D0C4-4EA1-B27F-5D59DEB05BA3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3185800" y="1916640"/>
            <a:ext cx="6985440" cy="30507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5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5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2227320" y="1916640"/>
            <a:ext cx="20552400" cy="30507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F21827-0221-4A14-9E8E-EA392EC041C2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27320" y="1916640"/>
            <a:ext cx="27943560" cy="69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5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5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227320" y="9583200"/>
            <a:ext cx="27943560" cy="228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2729457-9876-43EA-959A-743297119005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10400" y="8974800"/>
            <a:ext cx="27943560" cy="149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2125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2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2210400" y="24091560"/>
            <a:ext cx="27943560" cy="787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3240000">
              <a:lnSpc>
                <a:spcPct val="90000"/>
              </a:lnSpc>
              <a:spcBef>
                <a:spcPts val="3543"/>
              </a:spcBef>
              <a:buNone/>
              <a:tabLst>
                <a:tab pos="0" algn="l"/>
              </a:tabLst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1A1513C-F9A5-4003-96A5-029A264AA015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27320" y="1916640"/>
            <a:ext cx="27943560" cy="69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5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5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2227320" y="9583200"/>
            <a:ext cx="13768920" cy="228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16402320" y="9583200"/>
            <a:ext cx="13768920" cy="228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9148F3-61BD-4C3A-B21E-FE2D8A97E19D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231640" y="1916640"/>
            <a:ext cx="27943560" cy="69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5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5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2231640" y="8825040"/>
            <a:ext cx="13705560" cy="432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3240000">
              <a:lnSpc>
                <a:spcPct val="90000"/>
              </a:lnSpc>
              <a:spcBef>
                <a:spcPts val="3543"/>
              </a:spcBef>
              <a:buNone/>
              <a:tabLst>
                <a:tab pos="0" algn="l"/>
              </a:tabLst>
            </a:pPr>
            <a:r>
              <a:rPr lang="pt-BR" sz="85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2231640" y="13150080"/>
            <a:ext cx="13705560" cy="1934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16402320" y="8825040"/>
            <a:ext cx="13773240" cy="432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3240000">
              <a:lnSpc>
                <a:spcPct val="90000"/>
              </a:lnSpc>
              <a:spcBef>
                <a:spcPts val="3543"/>
              </a:spcBef>
              <a:buNone/>
              <a:tabLst>
                <a:tab pos="0" algn="l"/>
              </a:tabLst>
            </a:pPr>
            <a:r>
              <a:rPr lang="pt-BR" sz="85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16402320" y="13150080"/>
            <a:ext cx="13773240" cy="1934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810000" indent="-810000" defTabSz="3240000">
              <a:lnSpc>
                <a:spcPct val="90000"/>
              </a:lnSpc>
              <a:spcBef>
                <a:spcPts val="3543"/>
              </a:spcBef>
              <a:buClr>
                <a:srgbClr val="000000"/>
              </a:buClr>
              <a:buFont typeface="Arial"/>
              <a:buChar char="•"/>
            </a:pPr>
            <a:r>
              <a:rPr lang="pt-BR" sz="9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Clique para editar os estilos de texto Mestres</a:t>
            </a:r>
            <a:endParaRPr lang="pt-BR" sz="9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30000" lvl="1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8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Segundo nível</a:t>
            </a:r>
            <a:endParaRPr lang="pt-BR" sz="8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2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71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Terceiro nível</a:t>
            </a:r>
            <a:endParaRPr lang="pt-BR" sz="7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670000" lvl="3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Quarto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289640" lvl="4" indent="-810000" defTabSz="3240000">
              <a:lnSpc>
                <a:spcPct val="90000"/>
              </a:lnSpc>
              <a:spcBef>
                <a:spcPts val="1772"/>
              </a:spcBef>
              <a:buClr>
                <a:srgbClr val="000000"/>
              </a:buClr>
              <a:buFont typeface="Arial"/>
              <a:buChar char="•"/>
            </a:pPr>
            <a:r>
              <a:rPr lang="pt-BR" sz="6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Quinto nível</a:t>
            </a:r>
            <a:endParaRPr lang="pt-BR" sz="6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7261235-8B73-4EE7-A543-5E4FEB1DCF99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27320" y="1916640"/>
            <a:ext cx="27943560" cy="69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324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5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Clique para editar o título Mestre</a:t>
            </a:r>
            <a:endParaRPr lang="pt-BR" sz="15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99C12C-4794-4B58-B96A-E4572685D986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31"/>
          </p:nvPr>
        </p:nvSpPr>
        <p:spPr>
          <a:xfrm>
            <a:off x="222732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2"/>
          </p:nvPr>
        </p:nvSpPr>
        <p:spPr>
          <a:xfrm>
            <a:off x="10732320" y="33366600"/>
            <a:ext cx="1093392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33"/>
          </p:nvPr>
        </p:nvSpPr>
        <p:spPr>
          <a:xfrm>
            <a:off x="22881960" y="33366600"/>
            <a:ext cx="7289280" cy="191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C296002-F779-4645-BB64-D01594F25AE4}" type="slidenum">
              <a:rPr lang="pt-BR" sz="42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‹nº›</a:t>
            </a:fld>
            <a:endParaRPr lang="pt-BR" sz="4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: Cantos Arredondados 4"/>
          <p:cNvSpPr/>
          <p:nvPr/>
        </p:nvSpPr>
        <p:spPr>
          <a:xfrm>
            <a:off x="485640" y="6409800"/>
            <a:ext cx="1535400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Introdução/Objetivo 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5"/>
          <p:cNvSpPr/>
          <p:nvPr/>
        </p:nvSpPr>
        <p:spPr>
          <a:xfrm>
            <a:off x="0" y="3255480"/>
            <a:ext cx="32398560" cy="312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pt-BR" sz="7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AUDITGOV: FRAMEWORK DE OBSERVABILIDADE E AUDITORIA PARA CONFORMIDADE COM A LGPD EM APIs GOVERNAMENTAIS</a:t>
            </a:r>
            <a:r>
              <a:rPr lang="pt-BR" sz="7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 </a:t>
            </a:r>
            <a:endParaRPr lang="pt-BR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pt-BR" sz="55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Orientador: </a:t>
            </a:r>
            <a:r>
              <a:rPr lang="pt-BR" sz="55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Prof. Nelson Hideyoshi Koshoji</a:t>
            </a:r>
            <a:endParaRPr lang="pt-BR" sz="5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tângulo: Cantos Arredondados 7"/>
          <p:cNvSpPr/>
          <p:nvPr/>
        </p:nvSpPr>
        <p:spPr>
          <a:xfrm>
            <a:off x="16533435" y="34666560"/>
            <a:ext cx="7062120" cy="969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Rafael Sabbadini Galego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tângulo: Cantos Arredondados 16"/>
          <p:cNvSpPr/>
          <p:nvPr/>
        </p:nvSpPr>
        <p:spPr>
          <a:xfrm>
            <a:off x="16445520" y="6409800"/>
            <a:ext cx="1559412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Justificativa e Público-Alvo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tângulo: Cantos Arredondados 17"/>
          <p:cNvSpPr/>
          <p:nvPr/>
        </p:nvSpPr>
        <p:spPr>
          <a:xfrm>
            <a:off x="375840" y="15480360"/>
            <a:ext cx="1535400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Requisitos Principais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tângulo: Cantos Arredondados 19"/>
          <p:cNvSpPr/>
          <p:nvPr/>
        </p:nvSpPr>
        <p:spPr>
          <a:xfrm>
            <a:off x="18232920" y="20931840"/>
            <a:ext cx="1380672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Resultados Esperados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tângulo: Cantos Arredondados 25"/>
          <p:cNvSpPr/>
          <p:nvPr/>
        </p:nvSpPr>
        <p:spPr>
          <a:xfrm>
            <a:off x="16372080" y="13504320"/>
            <a:ext cx="1558620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Tecnologias (Stack)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Agrupar 2"/>
          <p:cNvGrpSpPr/>
          <p:nvPr/>
        </p:nvGrpSpPr>
        <p:grpSpPr>
          <a:xfrm>
            <a:off x="-612360" y="-43560"/>
            <a:ext cx="33010920" cy="3294720"/>
            <a:chOff x="-612360" y="-43560"/>
            <a:chExt cx="33010920" cy="3294720"/>
          </a:xfrm>
        </p:grpSpPr>
        <p:sp>
          <p:nvSpPr>
            <p:cNvPr id="71" name="Retângulo 1"/>
            <p:cNvSpPr/>
            <p:nvPr/>
          </p:nvSpPr>
          <p:spPr>
            <a:xfrm>
              <a:off x="0" y="-43560"/>
              <a:ext cx="32398560" cy="32947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39000">
                  <a:srgbClr val="000000"/>
                </a:gs>
                <a:gs pos="86000">
                  <a:srgbClr val="2D2CB1"/>
                </a:gs>
              </a:gsLst>
              <a:lin ang="0"/>
            </a:gradFill>
            <a:ln>
              <a:solidFill>
                <a:srgbClr val="1D31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grpSp>
          <p:nvGrpSpPr>
            <p:cNvPr id="72" name="Agrupar 10"/>
            <p:cNvGrpSpPr/>
            <p:nvPr/>
          </p:nvGrpSpPr>
          <p:grpSpPr>
            <a:xfrm>
              <a:off x="-612360" y="323640"/>
              <a:ext cx="5935320" cy="2078640"/>
              <a:chOff x="-612360" y="323640"/>
              <a:chExt cx="5935320" cy="2078640"/>
            </a:xfrm>
          </p:grpSpPr>
          <p:sp>
            <p:nvSpPr>
              <p:cNvPr id="73" name="CaixaDeTexto 3"/>
              <p:cNvSpPr/>
              <p:nvPr/>
            </p:nvSpPr>
            <p:spPr>
              <a:xfrm>
                <a:off x="-612360" y="323640"/>
                <a:ext cx="5935320" cy="148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r" defTabSz="457200">
                  <a:lnSpc>
                    <a:spcPct val="100000"/>
                  </a:lnSpc>
                </a:pPr>
                <a:r>
                  <a:rPr lang="pt-BR" sz="1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  <a:ea typeface="Arial"/>
                  </a:rPr>
                  <a:t>FATEC</a:t>
                </a:r>
                <a:endParaRPr lang="pt-BR" sz="1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CaixaDeTexto 9"/>
              <p:cNvSpPr/>
              <p:nvPr/>
            </p:nvSpPr>
            <p:spPr>
              <a:xfrm>
                <a:off x="588600" y="1549440"/>
                <a:ext cx="3888360" cy="852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r" defTabSz="457200">
                  <a:lnSpc>
                    <a:spcPct val="100000"/>
                  </a:lnSpc>
                </a:pPr>
                <a:r>
                  <a:rPr lang="pt-BR" sz="6000" b="1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  <a:ea typeface="Arial"/>
                  </a:rPr>
                  <a:t>Campinas</a:t>
                </a:r>
                <a:endParaRPr lang="pt-BR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75" name="Imagem 12"/>
            <p:cNvPicPr/>
            <p:nvPr/>
          </p:nvPicPr>
          <p:blipFill>
            <a:blip r:embed="rId3"/>
            <a:stretch/>
          </p:blipFill>
          <p:spPr>
            <a:xfrm>
              <a:off x="27842040" y="326160"/>
              <a:ext cx="4354560" cy="23227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6" name="Agrupar 30"/>
          <p:cNvGrpSpPr/>
          <p:nvPr/>
        </p:nvGrpSpPr>
        <p:grpSpPr>
          <a:xfrm>
            <a:off x="8582400" y="-145800"/>
            <a:ext cx="16662600" cy="3346371"/>
            <a:chOff x="8582400" y="-145800"/>
            <a:chExt cx="16662600" cy="3346371"/>
          </a:xfrm>
        </p:grpSpPr>
        <p:grpSp>
          <p:nvGrpSpPr>
            <p:cNvPr id="77" name="Agrupar 13"/>
            <p:cNvGrpSpPr/>
            <p:nvPr/>
          </p:nvGrpSpPr>
          <p:grpSpPr>
            <a:xfrm>
              <a:off x="8582400" y="-145800"/>
              <a:ext cx="16662600" cy="2756520"/>
              <a:chOff x="8582400" y="-145800"/>
              <a:chExt cx="16662600" cy="2756520"/>
            </a:xfrm>
          </p:grpSpPr>
          <p:sp>
            <p:nvSpPr>
              <p:cNvPr id="78" name="CaixaDeTexto 15"/>
              <p:cNvSpPr/>
              <p:nvPr/>
            </p:nvSpPr>
            <p:spPr>
              <a:xfrm>
                <a:off x="9463320" y="-145800"/>
                <a:ext cx="15119640" cy="176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pt-BR" sz="1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  <a:ea typeface="Arial"/>
                  </a:rPr>
                  <a:t>XVIII WORKSHOP</a:t>
                </a:r>
                <a:endParaRPr lang="pt-BR" sz="1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CaixaDeTexto 27"/>
              <p:cNvSpPr/>
              <p:nvPr/>
            </p:nvSpPr>
            <p:spPr>
              <a:xfrm>
                <a:off x="8582400" y="1288080"/>
                <a:ext cx="16662600" cy="1322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pt-BR" sz="4000" b="1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  <a:ea typeface="Arial"/>
                  </a:rPr>
                  <a:t>Apresentação de Trabalhos de Graduação, Extensão, Projetos</a:t>
                </a:r>
                <a:endParaRPr lang="pt-BR" sz="4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lang="pt-BR" sz="4000" b="1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  <a:ea typeface="Arial"/>
                  </a:rPr>
                  <a:t> Integradores (PI) e Iniciação Científica e Tecnológica </a:t>
                </a:r>
                <a:endParaRPr lang="pt-BR" sz="4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" name="CaixaDeTexto 29"/>
            <p:cNvSpPr/>
            <p:nvPr/>
          </p:nvSpPr>
          <p:spPr>
            <a:xfrm>
              <a:off x="8582400" y="2621691"/>
              <a:ext cx="152337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pt-BR" sz="3200" b="1" u="none" strike="noStrike" dirty="0">
                  <a:solidFill>
                    <a:schemeClr val="lt1"/>
                  </a:solidFill>
                  <a:effectLst/>
                  <a:uFillTx/>
                  <a:latin typeface="Calibri"/>
                  <a:ea typeface="Arial"/>
                </a:rPr>
                <a:t>1º Semestre de 2026</a:t>
              </a:r>
              <a:endPara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CaixaDeTexto 34"/>
          <p:cNvSpPr/>
          <p:nvPr/>
        </p:nvSpPr>
        <p:spPr>
          <a:xfrm>
            <a:off x="540000" y="7309440"/>
            <a:ext cx="15124320" cy="821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transformação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digital no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setor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público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e 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adoção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microsserviços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fragmentam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fluxo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informações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dificultando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rastreabilidade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exigida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pelo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Artigo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37 da LGPD. Para resolver esse impasse,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este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apresenta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 </a:t>
            </a:r>
            <a:r>
              <a:rPr lang="en-US" sz="4400" b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AuditGov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: um framework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nativo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assíncrono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projetado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para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automatizar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consolidação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evidências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legais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APIs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governamentais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alta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escala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sem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degradar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 performance do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sistema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solução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proposta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isola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código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auditoria via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Programação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Orientada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Aspectos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(POA),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propaga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identidade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civil entre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serviços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distribuídos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com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OpenTelemetry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e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garante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imutabilidade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dos dados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memória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interna </a:t>
            </a:r>
            <a:r>
              <a:rPr lang="en-US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através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4400" b="0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Scoped Values</a:t>
            </a: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do Java 21.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ixaDeTexto 4"/>
          <p:cNvSpPr/>
          <p:nvPr/>
        </p:nvSpPr>
        <p:spPr>
          <a:xfrm>
            <a:off x="16605000" y="7613280"/>
            <a:ext cx="15346080" cy="550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0000" tIns="45000" rIns="90000" bIns="45000" numCol="1" spcCol="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ausência de rastreabilidade unificada em sistemas governamentais cria vetores de vulnerabilidade que expõem o Estado a vazamentos indetectáveis e a severas sanções administrativas da ANPD. O </a:t>
            </a:r>
            <a:r>
              <a:rPr lang="pt-BR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AuditGov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estabelece convergência entre as métricas operacionais de Engenharia de Confiabilidade de Sites (SRE) e as demandas jurídicas da LGPD, fornecendo um artefato reutilizável de infraestrutura que reduz custos de manutenção regulatória sob as diretrizes de </a:t>
            </a:r>
            <a:r>
              <a:rPr lang="pt-BR" sz="4400" b="0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Privacy</a:t>
            </a:r>
            <a:r>
              <a:rPr lang="pt-BR" sz="4400" b="0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t-BR" sz="4400" b="0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by</a:t>
            </a:r>
            <a:r>
              <a:rPr lang="pt-BR" sz="4400" b="0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Design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aixaDeTexto 7"/>
          <p:cNvSpPr/>
          <p:nvPr/>
        </p:nvSpPr>
        <p:spPr>
          <a:xfrm>
            <a:off x="540000" y="24120000"/>
            <a:ext cx="15494040" cy="61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84" name="Imagem 14" descr="Tabela&#10;&#10;O conteúdo gerado por IA pode estar incorreto."/>
          <p:cNvPicPr/>
          <p:nvPr/>
        </p:nvPicPr>
        <p:blipFill>
          <a:blip r:embed="rId4"/>
          <a:stretch/>
        </p:blipFill>
        <p:spPr>
          <a:xfrm>
            <a:off x="16605000" y="14669337"/>
            <a:ext cx="15124320" cy="57621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85" name="CaixaDeTexto 5"/>
          <p:cNvSpPr/>
          <p:nvPr/>
        </p:nvSpPr>
        <p:spPr>
          <a:xfrm>
            <a:off x="457200" y="16380000"/>
            <a:ext cx="15253920" cy="606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4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Isolamento Transversal: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Separação estrita entre o código de auditoria e a lógica de negócios via POA. 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4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Rastreabilidade Distribuída: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Propagação contínua da identidade do operador entre microsserviços via </a:t>
            </a:r>
            <a:r>
              <a:rPr lang="pt-BR" sz="4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OpenTelemetry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4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Evidência Imutável: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Bloqueio de alterações nos dados em memória via </a:t>
            </a:r>
            <a:r>
              <a:rPr lang="pt-BR" sz="4400" b="0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Scoped</a:t>
            </a:r>
            <a:r>
              <a:rPr lang="pt-BR" sz="4400" b="0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t-BR" sz="4400" b="0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Values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para garantir o não-repúdio. 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4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Conformidade Legal: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Registro íntegro e auditável de todas as operações de tratamento de dados sob a LGPD. 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m 90"/>
          <p:cNvPicPr/>
          <p:nvPr/>
        </p:nvPicPr>
        <p:blipFill>
          <a:blip r:embed="rId5"/>
          <a:stretch/>
        </p:blipFill>
        <p:spPr>
          <a:xfrm>
            <a:off x="375840" y="31293114"/>
            <a:ext cx="15158160" cy="43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Retângulo: Cantos Arredondados 18"/>
          <p:cNvSpPr/>
          <p:nvPr/>
        </p:nvSpPr>
        <p:spPr>
          <a:xfrm>
            <a:off x="375840" y="30237063"/>
            <a:ext cx="1515816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Cronograma do Projeto (TG-II)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m 92"/>
          <p:cNvPicPr/>
          <p:nvPr/>
        </p:nvPicPr>
        <p:blipFill>
          <a:blip r:embed="rId6"/>
          <a:stretch/>
        </p:blipFill>
        <p:spPr>
          <a:xfrm>
            <a:off x="23491080" y="29459160"/>
            <a:ext cx="3679200" cy="342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m 93"/>
          <p:cNvPicPr/>
          <p:nvPr/>
        </p:nvPicPr>
        <p:blipFill>
          <a:blip r:embed="rId7"/>
          <a:stretch/>
        </p:blipFill>
        <p:spPr>
          <a:xfrm>
            <a:off x="17674560" y="29219760"/>
            <a:ext cx="4556160" cy="54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tângulo: Cantos Arredondados 7"/>
          <p:cNvSpPr/>
          <p:nvPr/>
        </p:nvSpPr>
        <p:spPr>
          <a:xfrm>
            <a:off x="24242760" y="33083640"/>
            <a:ext cx="2288160" cy="969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pt-BR" sz="4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Vídeo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m 90"/>
          <p:cNvPicPr/>
          <p:nvPr/>
        </p:nvPicPr>
        <p:blipFill>
          <a:blip r:embed="rId8"/>
          <a:stretch/>
        </p:blipFill>
        <p:spPr>
          <a:xfrm>
            <a:off x="48126" y="22859640"/>
            <a:ext cx="18767520" cy="702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tângulo: Cantos Arredondados 18"/>
          <p:cNvSpPr/>
          <p:nvPr/>
        </p:nvSpPr>
        <p:spPr>
          <a:xfrm>
            <a:off x="375840" y="21960360"/>
            <a:ext cx="1753056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Arquitetura</a:t>
            </a:r>
            <a:endParaRPr lang="pt-BR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CaixaDeTexto 96"/>
          <p:cNvSpPr/>
          <p:nvPr/>
        </p:nvSpPr>
        <p:spPr>
          <a:xfrm>
            <a:off x="686730" y="29712504"/>
            <a:ext cx="6596640" cy="49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pt-BR" sz="2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Fonte: Rafael </a:t>
            </a:r>
            <a:r>
              <a:rPr lang="pt-BR" sz="2600" b="1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Sabbadini</a:t>
            </a:r>
            <a:r>
              <a:rPr lang="pt-BR" sz="2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Nelson </a:t>
            </a:r>
            <a:r>
              <a:rPr lang="pt-BR" sz="2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Koshoji</a:t>
            </a:r>
            <a:endParaRPr lang="pt-BR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tângulo: Cantos Arredondados 35"/>
          <p:cNvSpPr/>
          <p:nvPr/>
        </p:nvSpPr>
        <p:spPr>
          <a:xfrm>
            <a:off x="16502040" y="28270080"/>
            <a:ext cx="15594120" cy="899280"/>
          </a:xfrm>
          <a:prstGeom prst="roundRect">
            <a:avLst>
              <a:gd name="adj" fmla="val 16667"/>
            </a:avLst>
          </a:prstGeom>
          <a:solidFill>
            <a:srgbClr val="2A29A5"/>
          </a:solidFill>
          <a:ln>
            <a:solidFill>
              <a:srgbClr val="2A29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pt-BR" sz="5000" b="0" u="none" strike="noStrike" dirty="0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Integrante(s) do Projeto</a:t>
            </a:r>
            <a:endParaRPr lang="pt-BR" sz="5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6"/>
          <p:cNvSpPr/>
          <p:nvPr/>
        </p:nvSpPr>
        <p:spPr>
          <a:xfrm>
            <a:off x="18597240" y="21966972"/>
            <a:ext cx="13344848" cy="61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0000" tIns="45000" rIns="90000" bIns="45000" numCol="1" spcCol="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framework visa viabilizar a auditoria automatizada com impacto computacional (</a:t>
            </a:r>
            <a:r>
              <a:rPr lang="pt-BR" sz="4400" b="0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overhead</a:t>
            </a:r>
            <a:r>
              <a:rPr lang="pt-BR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 de latência estritamente inferior a 5% sob estresse de carga. Espera-se que os logs estruturados permitam ao componente visual Jaeger reconstruir a linhagem exata dos dados acessados, gerando subsídios automatizados para o Relatório de Impacto à Proteção de Dados (RIPD) e garantindo a imunidade das evidências contra adulterações na camada de aplicação.</a:t>
            </a:r>
            <a:endParaRPr lang="pt-BR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407</Words>
  <Application>Microsoft Office PowerPoint</Application>
  <PresentationFormat>Personalizar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GUILHERME AUGUSTO OLIVEIRA DE ABREU</dc:creator>
  <dc:description/>
  <cp:lastModifiedBy>Nelson H. Koshoji</cp:lastModifiedBy>
  <cp:revision>199</cp:revision>
  <dcterms:created xsi:type="dcterms:W3CDTF">2023-11-27T14:27:51Z</dcterms:created>
  <dcterms:modified xsi:type="dcterms:W3CDTF">2026-05-30T22:15:25Z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0x0101000BBFED94C1ED1A4B82E78FCB80954456</vt:lpwstr>
  </property>
  <property fmtid="{D5CDD505-2E9C-101B-9397-08002B2CF9AE}" pid="3" name="Notes">
    <vt:i4>1</vt:i4>
  </property>
  <property fmtid="{D5CDD505-2E9C-101B-9397-08002B2CF9AE}" pid="4" name="PresentationFormat">
    <vt:lpwstr>Personalizar</vt:lpwstr>
  </property>
  <property fmtid="{D5CDD505-2E9C-101B-9397-08002B2CF9AE}" pid="5" name="Slides">
    <vt:i4>1</vt:i4>
  </property>
</Properties>
</file>